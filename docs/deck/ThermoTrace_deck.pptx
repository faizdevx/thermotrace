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Which heat is an industrial fire?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37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DD3FC"/>
                </a:solidFill>
              </a:defRPr>
            </a:pPr>
            <a:r>
              <a:t>1 / 6 -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3,073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thermal sources, one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industrial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documented industrial fires, 2016-2025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57784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Satellites flag thousands of heat sources every day. In one 3-hour snapshot of India: 3,073 sources, 2,165 of them crop burning and 427 forest fires.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Only about 1 in 10 is industrial (291), and almost all of those are routine: coal seams, flares, kilns, furnaces.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An analyst needs the few that are abnormal, a reason for each, and proof before anyone is sent.</a:t>
            </a:r>
          </a:p>
        </p:txBody>
      </p:sp>
      <p:pic>
        <p:nvPicPr>
          <p:cNvPr id="12" name="Picture 11" descr="national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60" y="2880360"/>
            <a:ext cx="5410199" cy="32461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</a:defRPr>
            </a:pPr>
            <a:r>
              <a:t>NASA FIRMS VIIRS, 2026-10-16. A detection is evidence that a place was hot, not a confirmed fire.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Public data, joined and kept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37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DD3FC"/>
                </a:solidFill>
              </a:defRPr>
            </a:pPr>
            <a:r>
              <a:t>2 / 6 -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5778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Heat: NASA FIRMS VIIRS (S-NPP, NOAA-20/21), 375 m, about 3 h behind the satellite, plus a 365-day archive of 1.9 M detections.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Place: 12,762 facilities merged from OpenStreetMap, WRI power plants and VIIRS flare sites, each with its source and licence; ESA WorldCover land cover.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Normal: a 365-day baseline per facility and per 1 km cell, so a source is compared with its own history.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Proof: Sentinel-2 and Landsat scenes for the day of the detection (burn index, SWIR hot pixels, surface temperature).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Labels: 3,247 rule-derived units and 34 verified incidents (source text confirms event, place and date).</a:t>
            </a:r>
          </a:p>
        </p:txBody>
      </p:sp>
      <p:pic>
        <p:nvPicPr>
          <p:cNvPr id="6" name="Picture 5" descr="facility_prov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63624"/>
            <a:ext cx="5303520" cy="3182112"/>
          </a:xfrm>
          <a:prstGeom prst="rect">
            <a:avLst/>
          </a:prstGeom>
        </p:spPr>
      </p:pic>
      <p:pic>
        <p:nvPicPr>
          <p:cNvPr id="7" name="Picture 6" descr="source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559" y="4572000"/>
            <a:ext cx="30480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</a:defRPr>
            </a:pPr>
            <a:r>
              <a:t>Rule-derived labels are weak labels; the verified incidents are the independent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 model that explains itself, and the rules as a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37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DD3FC"/>
                </a:solidFill>
              </a:defRPr>
            </a:pPr>
            <a:r>
              <a:t>3 / 6 -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5778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Gradient-boosted trees on 41 features: heat behaviour, facility distance and kind, land cover, the baseline z-score, season.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Calibrated probabilities; the top reasons per source come from sampling-Shapley values, in words.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The rule classifier stays as baseline and fallback, and as the source of the fire-candidate score the alerts use.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Alert = P(industrial fire) high, or a source at a known facility 3 sd above its own baseline; one alert per facility per 6 h; a cropland-by-day veto.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Analysts confirm or reject in an inbox; every decision lands in the labels table for the next model.</a:t>
            </a:r>
          </a:p>
        </p:txBody>
      </p:sp>
      <p:pic>
        <p:nvPicPr>
          <p:cNvPr id="6" name="Picture 5" descr="alert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669280" cy="3401568"/>
          </a:xfrm>
          <a:prstGeom prst="rect">
            <a:avLst/>
          </a:prstGeom>
        </p:spPr>
      </p:pic>
      <p:pic>
        <p:nvPicPr>
          <p:cNvPr id="7" name="Picture 6" descr="eval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60" y="4800600"/>
            <a:ext cx="3894918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</a:defRPr>
            </a:pPr>
            <a:r>
              <a:t>Rules in docs/EVALUATION.md and the README; model card in the dashboard tab.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the numbers say, and what they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37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DD3FC"/>
                </a:solidFill>
              </a:defRPr>
            </a:pPr>
            <a:r>
              <a:t>4 / 6 -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0.993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model macro-F1, held-out regions and months (95% CI 0.987-0.998)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0.809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rule classifier (0.763-0.848)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0.633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model that sees only the heat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57784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The labels are rule-derived, so 0.993 is agreement with the labelling rules, not real-world accuracy. The 0.633 is the part the satellite signal earns alone.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Independent check: VIIRS saw 20 of 34 documented industrial fires; at 0.25 false alarms per day the model flags all 20, the rules 16.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Replaying every verified incident through the live pipeline: 22 have a detection and only 5 raise an alert (15% of all 34).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Misses are mostly refineries that are always hot, and a 54 MW event with no mapped facility.</a:t>
            </a:r>
          </a:p>
        </p:txBody>
      </p:sp>
      <p:pic>
        <p:nvPicPr>
          <p:cNvPr id="12" name="Picture 11" descr="eval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791952"/>
            <a:ext cx="4846320" cy="17429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</a:defRPr>
            </a:pPr>
            <a:r>
              <a:t>docs/EVALUATION.md, docs/REPLAY.md. Small samples; single digits per location 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37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DD3FC"/>
                </a:solidFill>
              </a:defRPr>
            </a:pPr>
            <a:r>
              <a:t>5 / 6 -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5778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National view: heat-density grid for crop and forest fires, points for industrial sources; facilities are a separate toggle.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Dashboard tab: alerts today, class mix over time, top states, model card.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Alert inbox: timeline, imagery, Confirm / Reject / Unsure; one click to a PDF incident report.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Replay: Vatva GIDC 2020-12-09 through the same pipeline on a virtual clock; the analyst's decision lands in labels.</a:t>
            </a:r>
          </a:p>
        </p:txBody>
      </p:sp>
      <p:pic>
        <p:nvPicPr>
          <p:cNvPr id="6" name="Picture 5" descr="dashboard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4069080"/>
            <a:ext cx="3962400" cy="2377440"/>
          </a:xfrm>
          <a:prstGeom prst="rect">
            <a:avLst/>
          </a:prstGeom>
        </p:spPr>
      </p:pic>
      <p:pic>
        <p:nvPicPr>
          <p:cNvPr id="7" name="Picture 6" descr="report_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234439"/>
            <a:ext cx="3556000" cy="5029200"/>
          </a:xfrm>
          <a:prstGeom prst="rect">
            <a:avLst/>
          </a:prstGeom>
        </p:spPr>
      </p:pic>
      <p:pic>
        <p:nvPicPr>
          <p:cNvPr id="8" name="Picture 7" descr="mobil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9852" y="1234440"/>
            <a:ext cx="1985894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</a:defRPr>
            </a:pPr>
            <a:r>
              <a:t>Video: docs/demo/thermotrace_overview.mp4 (2 min) and docs/demo/thermotrace_replay_demo.mp4 (4 min).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Impact, and what is still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37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DD3FC"/>
                </a:solidFill>
              </a:defRPr>
            </a:pPr>
            <a:r>
              <a:t>6 / 6 -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detected incidents that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industrial alerts on the Punjab burning peak (6,746 sources)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5778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For a control room: a short list of abnormal industrial heat with reasons, imagery and a report, instead of thousands of dots.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Every claim carries its limits: weak labels, 375 m pixels, one cycle every 3 h, a refinery fire looks like its flare.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Honest hit rate: 5 of 22 detected incidents alert today. Next: a rule for large new sources with no mapped facility, more verified incidents, and Sentinel-2 evidence at alert time for every alert.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- Open items: public hosting (scripts and checks are ready, no VM yet), real Telegram credentials, Global Energy Monitor trackers.</a:t>
            </a:r>
          </a:p>
        </p:txBody>
      </p:sp>
      <p:pic>
        <p:nvPicPr>
          <p:cNvPr id="10" name="Picture 9" descr="source_imag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3291840"/>
            <a:ext cx="510540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94A3B8"/>
                </a:solidFill>
              </a:defRPr>
            </a:pPr>
            <a:r>
              <a:t>github.com/faizdevx/ThermoTrace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